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36-462C-BD89-19C56401E0A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36-462C-BD89-19C56401E0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B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Denied (0)</c:v>
                </c:pt>
                <c:pt idx="1">
                  <c:v>Approved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28010</c:v>
                </c:pt>
                <c:pt idx="1">
                  <c:v>7990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36-462C-BD89-19C56401E0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8FA6E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FA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A1-4B77-80A1-13B82B066553}"/>
              </c:ext>
            </c:extLst>
          </c:dPt>
          <c:dPt>
            <c:idx val="1"/>
            <c:invertIfNegative val="0"/>
            <c:bubble3D val="0"/>
            <c:spPr>
              <a:solidFill>
                <a:srgbClr val="8FA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A1-4B77-80A1-13B82B066553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A1-4B77-80A1-13B82B066553}"/>
              </c:ext>
            </c:extLst>
          </c:dPt>
          <c:dPt>
            <c:idx val="3"/>
            <c:invertIfNegative val="0"/>
            <c:bubble3D val="0"/>
            <c:spPr>
              <a:solidFill>
                <a:srgbClr val="8FA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A1-4B77-80A1-13B82B06655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B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77.17</c:v>
                </c:pt>
                <c:pt idx="1">
                  <c:v>89.7</c:v>
                </c:pt>
                <c:pt idx="2">
                  <c:v>91.33</c:v>
                </c:pt>
                <c:pt idx="3">
                  <c:v>77.239999999999995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EA1-4B77-80A1-13B82B0665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71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108960" cy="310896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784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LoanSight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58368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Approval Outcomes with Machine Learning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11015" y="5394960"/>
            <a:ext cx="0" cy="82296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57229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SOURAV.B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9AA5D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July 2026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C"/>
          </a:solidFill>
          <a:ln/>
          <a:effectLst>
            <a:outerShdw blurRad="127000" dist="381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predicts whether a loan application will be approved or denied, based on applicant demographics, financial standing, and loan characteristics — replacing slow, subjective manual review with a fast, data-driven decision aid.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494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0" y="1801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raw applicant dataset and examine structure, size, and data types.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9440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Encode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49440" y="27157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values; convert categorical fields into numeric form.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944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the Data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36301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class imbalance in the training set using SMOTE oversampling.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49440" y="4206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Compare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45445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four classifiers and evaluate them on a held-out test set.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Deploy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9440" y="54589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top-performing model and package it for real-time prediction.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Criteria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a real financial decision (loan approval)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sample size for robust model training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demographic, financial, and loan-specific features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clear target label for supervised learning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348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4360" y="4800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loan_data.csv — a structured applicant-level loan dataset compiled for credit-risk modeling practice.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09360" y="150876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6720840" y="17830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72084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720840" y="2880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41248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412480" y="2880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1041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10104120" y="2880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720840" y="3337560"/>
            <a:ext cx="44805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20840" y="3520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include: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720840" y="38862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age, gender, education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— income, employment experience, credit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details — amount, intent, interest rate, income percent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home ownership, previous defaults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must decide, for every applicant, whether to approve or deny a loan. Done manually, this process is slow, inconsistent across reviewers, and hard to scale as application volume grows.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frame approval as a binary classification problem — approved (1) vs. denied (0) — that a model can learn directly from historical applicant data.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0436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75120" y="260604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— fewer defaults slipping through approval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— near-instant decisions instead of manual queues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same criteria applied to every applicant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credit — fair, explainable decisions build trust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column for missing values with isnull().sum() — the dataset came back fully populated, so no imputation or row removal was required.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77156" y="16002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Transformation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0600" y="31089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categorical text fields into numeric form: label encoding for gender and loan intent; ordinal mapping for education, home ownership, and prior-default flags.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Class Balance (before SMOTE)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00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28,010 denied vs. 7,990 approved in the training split — a ~78/22 imbalance.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92240" y="15087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</p:spPr>
      </p:sp>
      <p:sp>
        <p:nvSpPr>
          <p:cNvPr id="8" name="Shape 5"/>
          <p:cNvSpPr/>
          <p:nvPr/>
        </p:nvSpPr>
        <p:spPr>
          <a:xfrm>
            <a:off x="676656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717" y="185051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0" y="2331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rows across 14 columns; mix of float, integer, and categorical (object) types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every column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value ranges in income and loan amount relative to encoded categorical fields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92240" y="37947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6766560" y="4023360"/>
            <a:ext cx="502920" cy="50292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717" y="413651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766560" y="452628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denials significantly outnumber approvals — the target is imbalanced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(education, home ownership, intent) needed encoding before modeling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risked biasing models toward always predicting “denied”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96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932813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206240" y="171907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isnull().sum() confirmed a fully complete dataset, so no imputation was needed.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986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3011805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98064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206240" y="279806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SMOTE (Synthetic Minority Over-sampling) to the training set only, balancing 28,010 vs. 7,990 up to 28,010 vs. 28,010.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0390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40907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7705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206240" y="3877056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LabelEncoder for gender and loan intent, and explicit ordinal mappings for education, home ownership, and previous-default flags.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8289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0566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algorithms were trained on the SMOTE-balanced training set and evaluated on a held-out 20% test split: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606040"/>
            <a:ext cx="594360" cy="59436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071" y="273977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 estimating approval probability from a weighted combination of features.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2286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457700" y="2606040"/>
            <a:ext cx="594360" cy="59436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431" y="273977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57600" y="3977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classifier (max depth 5) that splits applicants on the most informative features.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338060" y="2606040"/>
            <a:ext cx="594360" cy="59436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791" y="273977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37960" y="3977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trees; combines votes for a more robust, lower-variance prediction.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89720" y="2286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18420" y="2606040"/>
            <a:ext cx="594360" cy="59436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151" y="273977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260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418320" y="3977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applicant by majority vote among its most similar historical cases.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Modeling: SMOTE-oversampled training data used throughout to counteract class imbalance before fitting each model.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method: 80/20 train-test split (random_state=42); models trained on SMOTE-balanced data, scored on the original test distribution using accuracy.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4884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14884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2377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997" y="24905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4964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6384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863840" y="33649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accuracy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89520" y="425196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63840" y="475488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KNN scored lowest, likely because features were never scaled — both algorithms are sensitive to differences in feature magnitude.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Random Forest was serialized with pickle (model.pkl) for reuse without retraining.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command-line predictor collects the 12 applicant inputs and returns an instant approval prediction.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6459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7325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3252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Production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31546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behind an API or loan-officer dashboard so it plugs into existing origination workflows.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166360"/>
            <a:ext cx="548640" cy="548640"/>
          </a:xfrm>
          <a:prstGeom prst="ellipse">
            <a:avLst/>
          </a:prstGeom>
          <a:solidFill>
            <a:srgbClr val="2A3480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5289804"/>
            <a:ext cx="301752" cy="30175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45920" y="5394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loan decisions reduce processing bottlenecks and support fairer, evidence-based lending at scale.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303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Working Loan Model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232C6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encoded 45,000 loan applications, corrected class imbalance with SMOTE, and compared four models — Random Forest led at 91.3% test accuracy.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1488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232C63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4880" y="288036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 and mixed data types end-to-end reinforced how much preprocessing shapes results before any model is even trained.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412480" y="214884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232C63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0" y="288036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 scaling, cross-validation, hyperparameter tuning, full precision/recall reporting, and model explainability (e.g., SHAP).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980</Words>
  <Application>Microsoft Office PowerPoint</Application>
  <PresentationFormat>Widescreen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LoanSight: Loan Approval Prediction</dc:title>
  <dc:subject>PptxGenJS Presentation</dc:subject>
  <dc:creator>LoanSight Project</dc:creator>
  <cp:lastModifiedBy>HP</cp:lastModifiedBy>
  <cp:revision>3</cp:revision>
  <dcterms:created xsi:type="dcterms:W3CDTF">2026-07-03T11:17:24Z</dcterms:created>
  <dcterms:modified xsi:type="dcterms:W3CDTF">2026-07-03T17:25:20Z</dcterms:modified>
</cp:coreProperties>
</file>